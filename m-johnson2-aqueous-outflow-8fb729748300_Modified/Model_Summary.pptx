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63" r:id="rId6"/>
    <p:sldId id="258" r:id="rId7"/>
    <p:sldId id="262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18.100000000000001</c:v>
                </c:pt>
                <c:pt idx="2">
                  <c:v>15.2</c:v>
                </c:pt>
                <c:pt idx="3">
                  <c:v>13.6</c:v>
                </c:pt>
                <c:pt idx="4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27-4291-9D6E-2C79BC50C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6667600"/>
        <c:axId val="11718688"/>
      </c:barChart>
      <c:catAx>
        <c:axId val="2046667600"/>
        <c:scaling>
          <c:orientation val="minMax"/>
        </c:scaling>
        <c:delete val="1"/>
        <c:axPos val="b"/>
        <c:majorTickMark val="none"/>
        <c:minorTickMark val="none"/>
        <c:tickLblPos val="nextTo"/>
        <c:crossAx val="11718688"/>
        <c:crosses val="autoZero"/>
        <c:auto val="1"/>
        <c:lblAlgn val="ctr"/>
        <c:lblOffset val="100"/>
        <c:noMultiLvlLbl val="0"/>
      </c:catAx>
      <c:valAx>
        <c:axId val="1171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66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9C52-9D31-D172-614F-376AD164C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1D694-A7E6-87CA-AD76-E7FDF3583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6773C-526D-C0F1-010F-DA815442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B8F5-E89E-00D9-491F-9FE54745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612ED-CFC0-2709-5FC9-0F6FDB12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5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D57A-5457-9565-4120-8A43721B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45B6-AC86-23E0-37F0-4342DEB5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D17D7-A0E7-EB6E-EF1A-0D45C5FA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FE97-A3E4-0CC7-68F0-67B68D0E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B2C99-8A89-BBBF-5499-2004445C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0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CD7E-CDBC-1237-13C1-724AE372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01A25-1C3B-AAC3-4FFF-9D1D0590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35B1-5C53-AB02-8ADE-8C2E69FD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4FCF-395E-3946-2D19-12358D8A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A385E-970F-FC16-1864-62714D54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5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84A9-ECCB-3750-DD63-40B56174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6881-7EE8-5522-CD2F-4A484C08E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24593-78F5-CA00-1954-62F8B7744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C6B0D-630F-ACF8-F87D-6D6078A2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0D1BE-694C-4603-9970-99259DD0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CBD17-2242-80F2-616B-DF7799A3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4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144-A827-1EEC-FAB2-9443B735E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C6C68-0430-6A55-3DE6-3885D0DBF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EEDFC-970B-27D5-70AC-EE0E7ADD3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E9ADC-F68F-AC95-AF6E-2D00C202B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8E495-F28E-13BF-EFA8-9C8CDC136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91C29-F332-19A1-397E-AFD82ECF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A87B0-15E9-95FA-07AE-1EC71CB5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E9998-D59F-1FD3-CF26-88A7571C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9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BEF9-0C1F-E936-F5AB-354C5179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FF759-1440-50D0-3BD2-C48E902C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B4983-43E2-8BA2-FEF2-762B5AB2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AD391-2747-7A15-D57A-1ADF566B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4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0CA1-265A-36F6-4292-D43B539C8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085FF-9E2B-8293-15BE-FC685A5E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38BBD-8870-7F8E-E80C-65634BAA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49D0-DBF0-4D0C-74DD-EAA2DA08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2B87-7CA5-B748-EEB7-B18EAF77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400A8-D045-9EFD-992B-D5334EC46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CE98-D545-F6AF-CD2C-E071DF37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10505-A5A9-D4C4-08C4-D333F3D3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3BA3F-91F9-380F-B2B8-B2052DD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F712-2A76-5045-B307-83E290D2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E895B-E808-F1CC-C143-36D6CECF7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D8E83-AA78-AC54-1FB9-BE37331E2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ADA0F-11D3-6684-C329-07E6510A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678A2-8897-1B3A-9808-06211801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B80C5-5BFB-40C6-E7D6-9242D297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2C0B-C371-206A-9BD4-7C32ABA2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69F69-DA4B-7D37-8AE4-1DF56F4E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0D79-71D5-73EA-B5BA-99D1B8E6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BFC33-A288-85BB-4A75-1B9FD06C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F28B9-8A54-C874-1A26-1081AD37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0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5C6F4-0268-8B85-2741-099690798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9A059-6D46-AA37-9881-A809E10F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A5AA-4A3A-8F66-15A5-0C8EBF39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06C13-0671-4039-37D2-D22E1C59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FA732-BA3A-13C7-FE12-3C1827BC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99A0C-8CFF-9702-716D-F893F015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88938-8081-9E92-C6AD-64E3C5EC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D0F0-CA57-BB6C-1E94-148E3BDD5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4E084-153C-4C70-8AC6-DF4366777F59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31803-ABAE-D56A-2A7D-48A0E1EF6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18BF-B513-FADE-DE06-01214F43B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DFAD3-CCBB-40EB-B9CA-CBB241776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9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FD99-0F96-702C-A919-FA6DAEE8B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Fluid Resistance Model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7C5868-940F-1898-A463-EE5C6D9AA2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1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391B-8288-543C-435F-0DF5FFEB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1: Validating Publication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97B6-BA93-A437-5CAB-1B9D6F23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numerical results for figures 6 and 10 in the original paper </a:t>
            </a:r>
          </a:p>
        </p:txBody>
      </p:sp>
    </p:spTree>
    <p:extLst>
      <p:ext uri="{BB962C8B-B14F-4D97-AF65-F5344CB8AC3E}">
        <p14:creationId xmlns:p14="http://schemas.microsoft.com/office/powerpoint/2010/main" val="289374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B674-B79C-4F85-079C-667DF571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765646" cy="876446"/>
          </a:xfrm>
        </p:spPr>
        <p:txBody>
          <a:bodyPr/>
          <a:lstStyle/>
          <a:p>
            <a:r>
              <a:rPr lang="en-US" b="1" dirty="0"/>
              <a:t>Replicating Figure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12166-8508-3882-184B-ED69DE64F0C1}"/>
              </a:ext>
            </a:extLst>
          </p:cNvPr>
          <p:cNvSpPr txBox="1"/>
          <p:nvPr/>
        </p:nvSpPr>
        <p:spPr>
          <a:xfrm>
            <a:off x="7438411" y="2290336"/>
            <a:ext cx="4220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 Hour Trabeculotomy: 37.4 +/- 0.06%</a:t>
            </a:r>
          </a:p>
          <a:p>
            <a:r>
              <a:rPr lang="en-US" dirty="0"/>
              <a:t>4x1 Hour Trabeculotomy : 67.66 +/- 0.02%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E3155-807D-EA15-AEFC-118FF626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60" y="1705501"/>
            <a:ext cx="6317979" cy="3868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9BDD6-2A44-0C5F-19E3-DE6E2E02DBFC}"/>
              </a:ext>
            </a:extLst>
          </p:cNvPr>
          <p:cNvSpPr txBox="1"/>
          <p:nvPr/>
        </p:nvSpPr>
        <p:spPr>
          <a:xfrm>
            <a:off x="8327908" y="1925335"/>
            <a:ext cx="24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IOP = 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DE19F-8FE8-CB76-AA5E-864810D2D06E}"/>
              </a:ext>
            </a:extLst>
          </p:cNvPr>
          <p:cNvSpPr txBox="1"/>
          <p:nvPr/>
        </p:nvSpPr>
        <p:spPr>
          <a:xfrm>
            <a:off x="8327908" y="3089131"/>
            <a:ext cx="24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IOP =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AA78F-EDC4-9DC4-F1CA-460B29294CAE}"/>
              </a:ext>
            </a:extLst>
          </p:cNvPr>
          <p:cNvSpPr txBox="1"/>
          <p:nvPr/>
        </p:nvSpPr>
        <p:spPr>
          <a:xfrm>
            <a:off x="7438411" y="3482379"/>
            <a:ext cx="4308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 Hour Trabeculotomy : 26.23 +/- 0.01%</a:t>
            </a:r>
          </a:p>
          <a:p>
            <a:pPr algn="ctr"/>
            <a:r>
              <a:rPr lang="en-US" dirty="0"/>
              <a:t>4x1 Hour Trabeculotomy : 47.73 +/- 0.01%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A3D57-E161-F946-9A53-E517F30832EB}"/>
              </a:ext>
            </a:extLst>
          </p:cNvPr>
          <p:cNvSpPr txBox="1"/>
          <p:nvPr/>
        </p:nvSpPr>
        <p:spPr>
          <a:xfrm>
            <a:off x="2207588" y="1336169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C9ABA-9AC2-14CA-D281-C596C97B6F4B}"/>
              </a:ext>
            </a:extLst>
          </p:cNvPr>
          <p:cNvSpPr txBox="1"/>
          <p:nvPr/>
        </p:nvSpPr>
        <p:spPr>
          <a:xfrm>
            <a:off x="1204546" y="5573652"/>
            <a:ext cx="556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bars are simulated data in the original paper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78B01-A80D-9B50-02E4-F8232685C9FA}"/>
              </a:ext>
            </a:extLst>
          </p:cNvPr>
          <p:cNvSpPr txBox="1"/>
          <p:nvPr/>
        </p:nvSpPr>
        <p:spPr>
          <a:xfrm>
            <a:off x="7391517" y="1375292"/>
            <a:ext cx="456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Simulated Data (% Resistance Reduction)</a:t>
            </a:r>
          </a:p>
        </p:txBody>
      </p:sp>
    </p:spTree>
    <p:extLst>
      <p:ext uri="{BB962C8B-B14F-4D97-AF65-F5344CB8AC3E}">
        <p14:creationId xmlns:p14="http://schemas.microsoft.com/office/powerpoint/2010/main" val="228095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378F-59D3-B741-4626-F0C81BCB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Replicating Figure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2EA11-2A7B-A961-11FF-8D5FD8A73D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57"/>
          <a:stretch/>
        </p:blipFill>
        <p:spPr>
          <a:xfrm>
            <a:off x="397003" y="1994844"/>
            <a:ext cx="3957260" cy="4362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C11679-6EA1-AA27-4C0D-05A06F271383}"/>
              </a:ext>
            </a:extLst>
          </p:cNvPr>
          <p:cNvSpPr txBox="1"/>
          <p:nvPr/>
        </p:nvSpPr>
        <p:spPr>
          <a:xfrm>
            <a:off x="4287471" y="2086756"/>
            <a:ext cx="3617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Baseline IOP</a:t>
            </a:r>
            <a:r>
              <a:rPr lang="en-US" dirty="0"/>
              <a:t>: 25</a:t>
            </a:r>
          </a:p>
          <a:p>
            <a:r>
              <a:rPr lang="en-US" b="1" dirty="0"/>
              <a:t>1 </a:t>
            </a:r>
            <a:r>
              <a:rPr lang="en-US" b="1" dirty="0" err="1"/>
              <a:t>iStents</a:t>
            </a:r>
            <a:r>
              <a:rPr lang="en-US" b="1" dirty="0"/>
              <a:t> injects</a:t>
            </a:r>
            <a:r>
              <a:rPr lang="en-US" dirty="0"/>
              <a:t>: 18.1 +/- 0.3</a:t>
            </a:r>
          </a:p>
          <a:p>
            <a:r>
              <a:rPr lang="en-US" b="1" dirty="0"/>
              <a:t>2 </a:t>
            </a:r>
            <a:r>
              <a:rPr lang="en-US" b="1" dirty="0" err="1"/>
              <a:t>iStents</a:t>
            </a:r>
            <a:r>
              <a:rPr lang="en-US" b="1" dirty="0"/>
              <a:t> injects </a:t>
            </a:r>
            <a:r>
              <a:rPr lang="en-US" dirty="0"/>
              <a:t>: 15.2 +/- 0.2</a:t>
            </a:r>
          </a:p>
          <a:p>
            <a:r>
              <a:rPr lang="en-US" b="1" dirty="0"/>
              <a:t>3 </a:t>
            </a:r>
            <a:r>
              <a:rPr lang="en-US" b="1" dirty="0" err="1"/>
              <a:t>iStents</a:t>
            </a:r>
            <a:r>
              <a:rPr lang="en-US" b="1" dirty="0"/>
              <a:t> injects </a:t>
            </a:r>
            <a:r>
              <a:rPr lang="en-US" dirty="0"/>
              <a:t>: 13.6 +/- 0.1</a:t>
            </a:r>
          </a:p>
          <a:p>
            <a:r>
              <a:rPr lang="en-US" b="1" dirty="0"/>
              <a:t>4 </a:t>
            </a:r>
            <a:r>
              <a:rPr lang="en-US" b="1" dirty="0" err="1"/>
              <a:t>iStents</a:t>
            </a:r>
            <a:r>
              <a:rPr lang="en-US" b="1" dirty="0"/>
              <a:t> injects </a:t>
            </a:r>
            <a:r>
              <a:rPr lang="en-US" dirty="0"/>
              <a:t>: 12.7 +/- 0.1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166F-A138-6F77-C1B0-C5BAAB129EFE}"/>
              </a:ext>
            </a:extLst>
          </p:cNvPr>
          <p:cNvSpPr txBox="1"/>
          <p:nvPr/>
        </p:nvSpPr>
        <p:spPr>
          <a:xfrm>
            <a:off x="656370" y="1625512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Paper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0E7986E-810D-6638-3794-CD49102C8E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089869"/>
              </p:ext>
            </p:extLst>
          </p:nvPr>
        </p:nvGraphicFramePr>
        <p:xfrm>
          <a:off x="8354403" y="1994844"/>
          <a:ext cx="1954333" cy="2682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489E82-A7DE-3D94-D26C-0F9910E4EF17}"/>
              </a:ext>
            </a:extLst>
          </p:cNvPr>
          <p:cNvSpPr txBox="1"/>
          <p:nvPr/>
        </p:nvSpPr>
        <p:spPr>
          <a:xfrm>
            <a:off x="3994326" y="1615788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A5B2D-3D75-BD95-7F5B-3AEC65C09C19}"/>
              </a:ext>
            </a:extLst>
          </p:cNvPr>
          <p:cNvSpPr txBox="1"/>
          <p:nvPr/>
        </p:nvSpPr>
        <p:spPr>
          <a:xfrm>
            <a:off x="7332282" y="1615788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Results (Plotted)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F0B74-C363-07D5-084E-1169C4B5E25A}"/>
              </a:ext>
            </a:extLst>
          </p:cNvPr>
          <p:cNvSpPr txBox="1"/>
          <p:nvPr/>
        </p:nvSpPr>
        <p:spPr>
          <a:xfrm rot="16200000">
            <a:off x="8305023" y="4856647"/>
            <a:ext cx="101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8AE2E-98B1-E0D9-58CA-0D93866512A7}"/>
              </a:ext>
            </a:extLst>
          </p:cNvPr>
          <p:cNvSpPr txBox="1"/>
          <p:nvPr/>
        </p:nvSpPr>
        <p:spPr>
          <a:xfrm>
            <a:off x="8981558" y="4573378"/>
            <a:ext cx="29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7CDD2-F018-86E0-BFAB-DFCF146E80A4}"/>
              </a:ext>
            </a:extLst>
          </p:cNvPr>
          <p:cNvSpPr txBox="1"/>
          <p:nvPr/>
        </p:nvSpPr>
        <p:spPr>
          <a:xfrm>
            <a:off x="9272966" y="4563654"/>
            <a:ext cx="29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52FA0E-1FF3-F46F-EF02-41C14F5F5296}"/>
              </a:ext>
            </a:extLst>
          </p:cNvPr>
          <p:cNvSpPr txBox="1"/>
          <p:nvPr/>
        </p:nvSpPr>
        <p:spPr>
          <a:xfrm>
            <a:off x="9546289" y="4563654"/>
            <a:ext cx="29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07377-4D91-BA3E-FACA-40DCBCE7B78B}"/>
              </a:ext>
            </a:extLst>
          </p:cNvPr>
          <p:cNvSpPr txBox="1"/>
          <p:nvPr/>
        </p:nvSpPr>
        <p:spPr>
          <a:xfrm>
            <a:off x="9871577" y="4547001"/>
            <a:ext cx="29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30B1F-0509-E2FE-5CD7-D26FFED67C6A}"/>
              </a:ext>
            </a:extLst>
          </p:cNvPr>
          <p:cNvSpPr txBox="1"/>
          <p:nvPr/>
        </p:nvSpPr>
        <p:spPr>
          <a:xfrm rot="16200000">
            <a:off x="7348906" y="3244334"/>
            <a:ext cx="156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IOP (mmHg)</a:t>
            </a:r>
          </a:p>
        </p:txBody>
      </p:sp>
    </p:spTree>
    <p:extLst>
      <p:ext uri="{BB962C8B-B14F-4D97-AF65-F5344CB8AC3E}">
        <p14:creationId xmlns:p14="http://schemas.microsoft.com/office/powerpoint/2010/main" val="49767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0A22-6A63-EADD-23D1-967AB3AB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462" y="177189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We wanted to See the Impact of Collector Channels on </a:t>
            </a:r>
            <a:r>
              <a:rPr lang="en-US" dirty="0" err="1"/>
              <a:t>iStent</a:t>
            </a:r>
            <a:r>
              <a:rPr lang="en-US" dirty="0"/>
              <a:t> Results.  Placed </a:t>
            </a:r>
            <a:r>
              <a:rPr lang="en-US" dirty="0" err="1"/>
              <a:t>iStent</a:t>
            </a:r>
            <a:r>
              <a:rPr lang="en-US" dirty="0"/>
              <a:t> around various degrees in the eye and found final </a:t>
            </a:r>
            <a:r>
              <a:rPr lang="en-US" dirty="0" err="1"/>
              <a:t>reuction</a:t>
            </a:r>
            <a:r>
              <a:rPr lang="en-US" dirty="0"/>
              <a:t> in IOP</a:t>
            </a:r>
          </a:p>
        </p:txBody>
      </p:sp>
    </p:spTree>
    <p:extLst>
      <p:ext uri="{BB962C8B-B14F-4D97-AF65-F5344CB8AC3E}">
        <p14:creationId xmlns:p14="http://schemas.microsoft.com/office/powerpoint/2010/main" val="310648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DF17-9D8C-2609-B82E-59F36AB7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Determine distribution of Collector Channels as Test Case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03FC6-1CAB-FC37-D410-F94785EF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89" y="2611704"/>
            <a:ext cx="4220321" cy="3633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DF185F-F890-8657-7C53-B5A47CBFB113}"/>
              </a:ext>
            </a:extLst>
          </p:cNvPr>
          <p:cNvSpPr txBox="1"/>
          <p:nvPr/>
        </p:nvSpPr>
        <p:spPr>
          <a:xfrm>
            <a:off x="938638" y="1836050"/>
            <a:ext cx="4831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Mouse example: Green dotted lines demarcate the position of collector channels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23953-F11A-1AFF-15BA-1B4060662F8A}"/>
              </a:ext>
            </a:extLst>
          </p:cNvPr>
          <p:cNvSpPr txBox="1"/>
          <p:nvPr/>
        </p:nvSpPr>
        <p:spPr>
          <a:xfrm>
            <a:off x="6096000" y="1836049"/>
            <a:ext cx="483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Human example: Taken from Hann et 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D65A1-F435-9625-9EC8-622B30D12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466" y="2482381"/>
            <a:ext cx="3123482" cy="351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6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34CF-5247-0A39-58A1-5CB41177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2: Validate that even collector channel distribution gives expected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848AC-C97B-0D82-0948-E5ACCD37AB2D}"/>
              </a:ext>
            </a:extLst>
          </p:cNvPr>
          <p:cNvSpPr txBox="1"/>
          <p:nvPr/>
        </p:nvSpPr>
        <p:spPr>
          <a:xfrm>
            <a:off x="6717323" y="2081407"/>
            <a:ext cx="42290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Baseline IOP: 25 mmHg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vertical lines: Position of collector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Y-axis: IOP after </a:t>
            </a:r>
            <a:r>
              <a:rPr lang="en-US" dirty="0" err="1"/>
              <a:t>iStent</a:t>
            </a:r>
            <a:r>
              <a:rPr lang="en-US" dirty="0"/>
              <a:t> 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X-axis: Position of </a:t>
            </a:r>
            <a:r>
              <a:rPr lang="en-US" dirty="0" err="1"/>
              <a:t>iStent</a:t>
            </a:r>
            <a:r>
              <a:rPr lang="en-US" dirty="0"/>
              <a:t> placement in the 360 degrees of the eye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plot to the left, a single </a:t>
            </a:r>
            <a:r>
              <a:rPr lang="en-US" dirty="0" err="1"/>
              <a:t>iStent</a:t>
            </a:r>
            <a:r>
              <a:rPr lang="en-US" dirty="0"/>
              <a:t> was moved around the 360 degrees of the eye and the resulting IOP reduction was simulated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variation whether stent was placed midway between 2 collector channels on a collector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positional dependence of </a:t>
            </a:r>
            <a:r>
              <a:rPr lang="en-US" dirty="0" err="1"/>
              <a:t>iStent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0BAAA-8396-38A1-34ED-90023B2D1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07" y="2012767"/>
            <a:ext cx="5581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9BF78A6-6D32-BF8F-159A-A62DBBEB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3: Same as step 2 but for mouse distribution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374FA2-DEEE-3362-6C2E-C148D7B09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71" y="1690688"/>
            <a:ext cx="54673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1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AAF4-959B-9BA1-BA4A-E8583E7E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50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4: Same as step 2 and 3 but for human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264A9-1A27-EB0F-7BD0-9B03186B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191" y="1717065"/>
            <a:ext cx="5917223" cy="447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3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306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Fluid Resistance Model</vt:lpstr>
      <vt:lpstr>Step 1: Validating Publication Data </vt:lpstr>
      <vt:lpstr>Replicating Figure 6</vt:lpstr>
      <vt:lpstr>Replicating Figure 10</vt:lpstr>
      <vt:lpstr>We wanted to See the Impact of Collector Channels on iStent Results.  Placed iStent around various degrees in the eye and found final reuction in IOP</vt:lpstr>
      <vt:lpstr>Step 1: Determine distribution of Collector Channels as Test Case</vt:lpstr>
      <vt:lpstr>Step 2: Validate that even collector channel distribution gives expected results</vt:lpstr>
      <vt:lpstr>Step 3: Same as step 2 but for mouse distribution</vt:lpstr>
      <vt:lpstr>Step 4: Same as step 2 and 3 but for human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 Resistance Model</dc:title>
  <dc:creator>Raymond S Fang</dc:creator>
  <cp:lastModifiedBy>Raymond S Fang</cp:lastModifiedBy>
  <cp:revision>2</cp:revision>
  <dcterms:created xsi:type="dcterms:W3CDTF">2023-11-17T15:22:19Z</dcterms:created>
  <dcterms:modified xsi:type="dcterms:W3CDTF">2023-12-18T23:09:45Z</dcterms:modified>
</cp:coreProperties>
</file>